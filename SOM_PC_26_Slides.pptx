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78"/>
      <p:bold r:id="rId79"/>
      <p:italic r:id="rId80"/>
      <p:boldItalic r:id="rId8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C506A5-DACD-4304-9C03-6761F9254842}">
  <a:tblStyle styleId="{62C506A5-DACD-4304-9C03-6761F92548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8"/>
  </p:normalViewPr>
  <p:slideViewPr>
    <p:cSldViewPr snapToGrid="0">
      <p:cViewPr varScale="1">
        <p:scale>
          <a:sx n="138" d="100"/>
          <a:sy n="138" d="100"/>
        </p:scale>
        <p:origin x="184" y="4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2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3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1.fntdata"/><Relationship Id="rId8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1be3286c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1be3286c9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214c32752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214c32752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150f6f23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150f6f23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150f6f23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150f6f23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2f1b20a5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2f1b20a5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2f1b20a5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2f1b20a5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2f1b20a5a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2f1b20a5a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2f1b20a5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2f1b20a5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22c1449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22c14499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2f1b20a5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2f1b20a5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f1b20a5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f1b20a5a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2f1b20a5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2f1b20a5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2f1b20a5a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2f1b20a5a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2f1b20a5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2f1b20a5a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2f1b20a5a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2f1b20a5a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2f1b20a5a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2f1b20a5a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2f1b20a5a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2f1b20a5a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2f1b20a5a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2f1b20a5a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2f1b20a5a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2f1b20a5a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150f6f23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150f6f23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189efae88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189efae88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189efae88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189efae88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2f1b20a5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2f1b20a5a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3be46aa3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3be46aa3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22c14499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22c14499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150f6f23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150f6f23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150f6f232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150f6f232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150f6f23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150f6f232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150f6f23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d150f6f232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3a4b0c26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d3a4b0c26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3bba47b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d3bba47b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1be3286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d1be3286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150f6f232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d150f6f232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150f6f232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d150f6f232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150f6f232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d150f6f232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150f6f232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d150f6f232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150f6f232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d150f6f232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2f1b20a5a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d2f1b20a5a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1be3286c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d1be3286c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189efae8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d189efae8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189efae8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d189efae8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189efae8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d189efae8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1be3286c9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d1be3286c9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3a4b0c26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d3a4b0c26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d189efae88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d189efae88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189efae8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d189efae8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1c987f5d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d1c987f5d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67af0e06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d67af0e06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d1c987f5d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d1c987f5d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d1c987f5d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d1c987f5d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d1c987f5d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d1c987f5d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d1c987f5db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d1c987f5db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d214c3275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d214c3275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1c987f5d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d1c987f5db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d1c987f5d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d1c987f5db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1c987f5db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d1c987f5db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d1c987f5db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d1c987f5db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d214c3275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d214c32752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d1c987f5db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d1c987f5db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1c987f5db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d1c987f5db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d214c3275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d214c3275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d214c32752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d214c32752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d214c32752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d214c32752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d214c32752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d214c32752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1c987f5db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d1c987f5db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d665fee52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d665fee52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d67af0e06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d67af0e06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d665fee52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d665fee52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d665fee52b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d665fee52b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d214c32752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d214c32752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d214c32752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d214c32752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d214c32752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d214c32752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d665fee52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d665fee52b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d665fee52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d665fee52b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 sz="2800" b="1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●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○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■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○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■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○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■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 title="general logo TUM SOM 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299325" y="433025"/>
            <a:ext cx="3936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 title="Logo_of_the_Technical_University_of_Munich (1)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353669" y="433021"/>
            <a:ext cx="755706" cy="393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Informatics Precourse</a:t>
            </a:r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Student Council TUM SOM X TUM School of Management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18-19.04.2026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5601A7-DD05-974B-4F87-C0E743A9C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91" y="327424"/>
            <a:ext cx="7772400" cy="44886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Tutor Team: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Agenda	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Day 1: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Technical specialisations: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Informatics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Computer Engineering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Getting started with Java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Data types in Java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Booleans, if, else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Loops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4529000" y="1304875"/>
            <a:ext cx="3745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Day 2: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Working with Arrays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Basics of Object Oriented</a:t>
            </a:r>
            <a:br>
              <a:rPr lang="en-GB"/>
            </a:br>
            <a:r>
              <a:rPr lang="en-GB"/>
              <a:t>Programming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Technical Specialisations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Modules in Informatics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78650"/>
            <a:ext cx="5984698" cy="30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6395650" y="1550775"/>
            <a:ext cx="2581500" cy="8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36 ECTS mandatory subjects </a:t>
            </a:r>
            <a:br>
              <a:rPr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+ 6 ECTS electives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Modules in Computer Engineering</a:t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209050"/>
            <a:ext cx="5623576" cy="378997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6289700" y="1271425"/>
            <a:ext cx="2629500" cy="21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 ECTS mandatory subjects</a:t>
            </a:r>
            <a:br>
              <a:rPr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+ 30 ECTS electives 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518" y="0"/>
            <a:ext cx="627566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Module introductions</a:t>
            </a:r>
            <a:endParaRPr/>
          </a:p>
        </p:txBody>
      </p:sp>
      <p:sp>
        <p:nvSpPr>
          <p:cNvPr id="107" name="Google Shape;107;p21"/>
          <p:cNvSpPr txBox="1"/>
          <p:nvPr/>
        </p:nvSpPr>
        <p:spPr>
          <a:xfrm>
            <a:off x="536100" y="3294325"/>
            <a:ext cx="78471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Mandatory subjects and overlapping electives</a:t>
            </a:r>
            <a:br>
              <a:rPr lang="en-GB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GB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(Please keep in mind that these modules are not exhaustive: Refer to TUMonline for complete information.)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Source: TUMonline, module descriptions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Courses that overlap</a:t>
            </a:r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b="1" dirty="0"/>
              <a:t>Introduction to Programming</a:t>
            </a:r>
            <a:r>
              <a:rPr lang="en-GB" dirty="0"/>
              <a:t> (12 ECTS)</a:t>
            </a:r>
            <a:br>
              <a:rPr lang="en-GB" dirty="0"/>
            </a:br>
            <a:r>
              <a:rPr lang="en-GB" dirty="0"/>
              <a:t>=&gt; Mandatory for all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b="1" dirty="0"/>
              <a:t>Introduction to Software Engineering </a:t>
            </a:r>
            <a:r>
              <a:rPr lang="en-GB" dirty="0"/>
              <a:t>(6ECTS)</a:t>
            </a:r>
            <a:br>
              <a:rPr lang="en-GB" dirty="0"/>
            </a:br>
            <a:r>
              <a:rPr lang="en-GB" dirty="0"/>
              <a:t>=&gt; Mandatory for Inf, Elective for CS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b="1" dirty="0"/>
              <a:t>Mathematics 2</a:t>
            </a:r>
            <a:r>
              <a:rPr lang="en-GB" dirty="0"/>
              <a:t> (6 ECTS)</a:t>
            </a:r>
            <a:br>
              <a:rPr lang="en-GB" dirty="0"/>
            </a:br>
            <a:r>
              <a:rPr lang="en-GB" dirty="0"/>
              <a:t>=&gt; Elective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b="1" dirty="0"/>
              <a:t>Information Management for Digital Business Models</a:t>
            </a:r>
            <a:r>
              <a:rPr lang="en-GB" dirty="0"/>
              <a:t> (6 ECTS)</a:t>
            </a:r>
            <a:br>
              <a:rPr lang="en-GB" dirty="0"/>
            </a:br>
            <a:r>
              <a:rPr lang="en-GB" dirty="0"/>
              <a:t>=&gt; Elective for CS, mandatory for Inf.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b="1" dirty="0"/>
              <a:t>Informatics Bachelor Practical Courses for Management</a:t>
            </a:r>
            <a:br>
              <a:rPr lang="en-GB" b="1" dirty="0"/>
            </a:br>
            <a:r>
              <a:rPr lang="en-GB" dirty="0"/>
              <a:t>=&gt; Elective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b="1" dirty="0"/>
              <a:t>Functional Programming and Verification </a:t>
            </a:r>
            <a:r>
              <a:rPr lang="en-GB" dirty="0"/>
              <a:t>=&gt; Elective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b="1" dirty="0"/>
              <a:t>Advanced Concepts of Programming Languages </a:t>
            </a:r>
            <a:r>
              <a:rPr lang="en-GB" dirty="0"/>
              <a:t>=&gt; Elective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Programming</a:t>
            </a:r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=&gt; Essential concepts of CS on basic, practical (but scientific) level</a:t>
            </a:r>
            <a:br>
              <a:rPr lang="en-GB"/>
            </a:br>
            <a:r>
              <a:rPr lang="en-GB"/>
              <a:t>=&gt; Solve algorithmic problems and implement Java apps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Interactive lecture with exercises + Tutorials + Homework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30% x2 exams, 30% project, 10% presentation (+ grade bonus)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Contents: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Object-oriented programming, functional programming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Data structures, recursion syntax and semantics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Graphical User Interfaces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Software Engineering</a:t>
            </a:r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=&gt; Master the project lifecycle, apply engineering principles, analyze and evaluate challenges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Interactive lecture with quizzes and exercises + tutorials + presentations</a:t>
            </a:r>
            <a:br>
              <a:rPr lang="en-GB"/>
            </a:br>
            <a:r>
              <a:rPr lang="en-GB"/>
              <a:t>+ homework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Content: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Design and architecture of projects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Testing projects &amp; quality assurance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Lifecycle management &amp; deployment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Process &amp; organisation</a:t>
            </a:r>
            <a:endParaRPr/>
          </a:p>
        </p:txBody>
      </p:sp>
      <p:sp>
        <p:nvSpPr>
          <p:cNvPr id="126" name="Google Shape;126;p24"/>
          <p:cNvSpPr/>
          <p:nvPr/>
        </p:nvSpPr>
        <p:spPr>
          <a:xfrm>
            <a:off x="5765075" y="2968000"/>
            <a:ext cx="2983500" cy="1390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entury Gothic"/>
                <a:ea typeface="Century Gothic"/>
                <a:cs typeface="Century Gothic"/>
                <a:sym typeface="Century Gothic"/>
              </a:rPr>
              <a:t>You should have passed ITP</a:t>
            </a:r>
            <a:br>
              <a:rPr lang="en-GB"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GB">
                <a:latin typeface="Century Gothic"/>
                <a:ea typeface="Century Gothic"/>
                <a:cs typeface="Century Gothic"/>
                <a:sym typeface="Century Gothic"/>
              </a:rPr>
              <a:t>+ </a:t>
            </a:r>
            <a:r>
              <a:rPr lang="en-GB" b="1">
                <a:latin typeface="Century Gothic"/>
                <a:ea typeface="Century Gothic"/>
                <a:cs typeface="Century Gothic"/>
                <a:sym typeface="Century Gothic"/>
              </a:rPr>
              <a:t>very high failure rate</a:t>
            </a:r>
            <a:endParaRPr b="1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2</a:t>
            </a:r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=&gt; Mathematical foundations for advanced concepts or engineering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Lecture + exercises (similar to Mathematics 1)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Contents: 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Differential equations and eigenvalues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Multiple integrals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Vector calculus and line integrals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Integral theorems (Green, Gauss, Stokes)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Information Management for </a:t>
            </a:r>
            <a:br>
              <a:rPr lang="en-GB"/>
            </a:br>
            <a:r>
              <a:rPr lang="en-GB"/>
              <a:t>Digital Business Models</a:t>
            </a:r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body" idx="1"/>
          </p:nvPr>
        </p:nvSpPr>
        <p:spPr>
          <a:xfrm>
            <a:off x="311700" y="1414075"/>
            <a:ext cx="8520600" cy="31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=&gt; Information management models and concepts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Lecture with exercises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Contents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Information demand and supply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Information systems and ICT management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Organisation and strategy of information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Economic aspects of information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Informatics Bachelor Practical Courses…	</a:t>
            </a:r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10ECTS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Working as an ITP tutor + developer for Artemis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Working with partners of the chair to work on projects etc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Functional Programming and Verification</a:t>
            </a:r>
            <a:endParaRPr/>
          </a:p>
        </p:txBody>
      </p:sp>
      <p:sp>
        <p:nvSpPr>
          <p:cNvPr id="150" name="Google Shape;150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=&gt; Master functional programming and apply formal verification methods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Lectures + Assignments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Contents: 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Verification methods (logic and semantics)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Functional foundations (Patterns and functions)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Functional correctness and semantics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Advanced Concepts of Programming Lang.</a:t>
            </a:r>
            <a:endParaRPr/>
          </a:p>
        </p:txBody>
      </p:sp>
      <p:sp>
        <p:nvSpPr>
          <p:cNvPr id="156" name="Google Shape;156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=&gt; Semantics and compiler-lvl implementation of programming languages.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Flipped classroom + Exercises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Contents: 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Advanced concurrency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Control flow and execution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Paradigms and architecture of programming languages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Extensibility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Operating Systems and System Software</a:t>
            </a:r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=&gt; Understand OS and current developments.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90min written exam; Lectures, exercises and assignments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Contents: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Process, storage and memory management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Concurrency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Machine-oriented programming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Low-level programming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Fundamentals of Databases</a:t>
            </a:r>
            <a:endParaRPr/>
          </a:p>
        </p:txBody>
      </p:sp>
      <p:sp>
        <p:nvSpPr>
          <p:cNvPr id="168" name="Google Shape;168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=&gt; Concepts of relational database systems, conceptual design to implementation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Contents: 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SQL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Data integrity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Queries and transactions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Database security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Reminder	</a:t>
            </a:r>
            <a:endParaRPr/>
          </a:p>
        </p:txBody>
      </p:sp>
      <p:sp>
        <p:nvSpPr>
          <p:cNvPr id="174" name="Google Shape;174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Many technical specialisation courses are courses </a:t>
            </a:r>
            <a:r>
              <a:rPr lang="en-GB" b="1"/>
              <a:t>for informatics students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They have a different curriculum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b="1"/>
              <a:t>You will have to teach yourself in some areas; </a:t>
            </a:r>
            <a:br>
              <a:rPr lang="en-GB"/>
            </a:br>
            <a:r>
              <a:rPr lang="en-GB"/>
              <a:t>They might assume you know some aspects not handled in previous courses.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Getting started with Java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you need to start programming</a:t>
            </a:r>
            <a:endParaRPr/>
          </a:p>
        </p:txBody>
      </p:sp>
      <p:sp>
        <p:nvSpPr>
          <p:cNvPr id="185" name="Google Shape;185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Java</a:t>
            </a:r>
            <a:r>
              <a:rPr lang="en-GB"/>
              <a:t>: 	Formal syntax and set of rules to write instructions. </a:t>
            </a:r>
            <a:br>
              <a:rPr lang="en-GB"/>
            </a:br>
            <a:r>
              <a:rPr lang="en-GB"/>
              <a:t>		Provides logic and vocabulary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JDK: </a:t>
            </a:r>
            <a:r>
              <a:rPr lang="en-GB"/>
              <a:t>	Software required to build and run Java: </a:t>
            </a:r>
            <a:br>
              <a:rPr lang="en-GB"/>
            </a:br>
            <a:r>
              <a:rPr lang="en-GB"/>
              <a:t>		Contains compiler, runtime environment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IDE: </a:t>
            </a:r>
            <a:r>
              <a:rPr lang="en-GB"/>
              <a:t>	Application used to write the code. </a:t>
            </a:r>
            <a:br>
              <a:rPr lang="en-GB"/>
            </a:br>
            <a:r>
              <a:rPr lang="en-GB"/>
              <a:t>		Combines tools named above </a:t>
            </a:r>
            <a:br>
              <a:rPr lang="en-GB"/>
            </a:br>
            <a:r>
              <a:rPr lang="en-GB"/>
              <a:t>		to create single cohesive interface</a:t>
            </a:r>
            <a:endParaRPr/>
          </a:p>
        </p:txBody>
      </p:sp>
      <p:pic>
        <p:nvPicPr>
          <p:cNvPr id="186" name="Google Shape;18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0878" y="1398425"/>
            <a:ext cx="559550" cy="1025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8250" y="3220075"/>
            <a:ext cx="847775" cy="8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8950" y="3174200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4" title="temurin-ligh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90250" y="1915500"/>
            <a:ext cx="1130175" cy="113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Essential vocabulary and syntax</a:t>
            </a:r>
            <a:endParaRPr/>
          </a:p>
        </p:txBody>
      </p:sp>
      <p:graphicFrame>
        <p:nvGraphicFramePr>
          <p:cNvPr id="195" name="Google Shape;195;p35"/>
          <p:cNvGraphicFramePr/>
          <p:nvPr/>
        </p:nvGraphicFramePr>
        <p:xfrm>
          <a:off x="805750" y="1259875"/>
          <a:ext cx="7247325" cy="3276450"/>
        </p:xfrm>
        <a:graphic>
          <a:graphicData uri="http://schemas.openxmlformats.org/drawingml/2006/table">
            <a:tbl>
              <a:tblPr>
                <a:noFill/>
                <a:tableStyleId>{62C506A5-DACD-4304-9C03-6761F9254842}</a:tableStyleId>
              </a:tblPr>
              <a:tblGrid>
                <a:gridCol w="9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7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Class</a:t>
                      </a:r>
                      <a:endParaRPr sz="13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structural blueprint used to create objects, defining their specific data (variables) and behaviors (methods).</a:t>
                      </a:r>
                      <a:endParaRPr sz="13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Scope</a:t>
                      </a:r>
                      <a:endParaRPr sz="13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specific region of code (usually defined by </a:t>
                      </a:r>
                      <a:r>
                        <a:rPr lang="en-GB" sz="1300">
                          <a:solidFill>
                            <a:srgbClr val="188038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{ }</a:t>
                      </a:r>
                      <a: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brackets) where a variable is visible and accessible to the program</a:t>
                      </a:r>
                      <a:endParaRPr sz="13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Variable</a:t>
                      </a:r>
                      <a:endParaRPr sz="13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named memory location assigned by the programmer to store a specific type of data.</a:t>
                      </a:r>
                      <a:endParaRPr sz="13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Package</a:t>
                      </a:r>
                      <a:endParaRPr sz="13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namespace mechanism used to organize logically related classes and prevent naming conflicts in large projects.</a:t>
                      </a:r>
                      <a:endParaRPr sz="13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Main</a:t>
                      </a:r>
                      <a:endParaRPr sz="13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mandatory entry-point method (</a:t>
                      </a:r>
                      <a:r>
                        <a:rPr lang="en-GB" sz="1300">
                          <a:solidFill>
                            <a:srgbClr val="188038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public static void main</a:t>
                      </a:r>
                      <a: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) that the Java Virtual Machine executes to start the program.</a:t>
                      </a:r>
                      <a:endParaRPr sz="13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"static"</a:t>
                      </a:r>
                      <a:endParaRPr sz="13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Keyword: The variable belongs to the class itself and not to an object</a:t>
                      </a:r>
                      <a:endParaRPr sz="13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Essential vocabulary and syntax</a:t>
            </a:r>
            <a:endParaRPr/>
          </a:p>
        </p:txBody>
      </p:sp>
      <p:pic>
        <p:nvPicPr>
          <p:cNvPr id="201" name="Google Shape;20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875" y="1017725"/>
            <a:ext cx="7070249" cy="40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6"/>
          <p:cNvSpPr/>
          <p:nvPr/>
        </p:nvSpPr>
        <p:spPr>
          <a:xfrm>
            <a:off x="2753500" y="1264525"/>
            <a:ext cx="1697100" cy="21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Century Gothic"/>
                <a:ea typeface="Century Gothic"/>
                <a:cs typeface="Century Gothic"/>
                <a:sym typeface="Century Gothic"/>
              </a:rPr>
              <a:t>Class “Playground”</a:t>
            </a:r>
            <a:endParaRPr sz="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p36"/>
          <p:cNvSpPr/>
          <p:nvPr/>
        </p:nvSpPr>
        <p:spPr>
          <a:xfrm>
            <a:off x="3897575" y="1833825"/>
            <a:ext cx="1478100" cy="240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Century Gothic"/>
                <a:ea typeface="Century Gothic"/>
                <a:cs typeface="Century Gothic"/>
                <a:sym typeface="Century Gothic"/>
              </a:rPr>
              <a:t>Variables</a:t>
            </a:r>
            <a:endParaRPr sz="4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p36"/>
          <p:cNvSpPr/>
          <p:nvPr/>
        </p:nvSpPr>
        <p:spPr>
          <a:xfrm>
            <a:off x="3804525" y="2238925"/>
            <a:ext cx="1675200" cy="207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Century Gothic"/>
                <a:ea typeface="Century Gothic"/>
                <a:cs typeface="Century Gothic"/>
                <a:sym typeface="Century Gothic"/>
              </a:rPr>
              <a:t>Main function</a:t>
            </a:r>
            <a:endParaRPr sz="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errors</a:t>
            </a:r>
            <a:endParaRPr/>
          </a:p>
        </p:txBody>
      </p:sp>
      <p:sp>
        <p:nvSpPr>
          <p:cNvPr id="210" name="Google Shape;210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Errors are frustrating! Here are common mistakes you might want to check: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 Artemis autograder wants an output in a specific format. Check that your code meets the requirements </a:t>
            </a:r>
            <a:r>
              <a:rPr lang="en-GB" b="1"/>
              <a:t>exactly. </a:t>
            </a:r>
            <a:br>
              <a:rPr lang="en-GB"/>
            </a:br>
            <a:r>
              <a:rPr lang="en-GB"/>
              <a:t>E.g.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en-GB"/>
              <a:t> vs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error.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Check the error messages in your IDE! They will help you to find the type of error made. You could have forgotten a “;”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 Artemis autograder will also provide feedback on what the problem was! Read the stack trace.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=&gt; If you don’t know: ASK! We are here to help.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of GenAI in Programming</a:t>
            </a:r>
            <a:endParaRPr/>
          </a:p>
        </p:txBody>
      </p:sp>
      <p:sp>
        <p:nvSpPr>
          <p:cNvPr id="216" name="Google Shape;216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Nowadays widely spread usage (vibecoding, generation, debugging…) 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You don’t have AI in the exam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Important to </a:t>
            </a:r>
            <a:r>
              <a:rPr lang="en-GB" sz="1600" b="1"/>
              <a:t>understand the logic </a:t>
            </a:r>
            <a:r>
              <a:rPr lang="en-GB" sz="1600"/>
              <a:t>behind the content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=&gt; Use </a:t>
            </a:r>
            <a:r>
              <a:rPr lang="en-GB" sz="1600" b="1"/>
              <a:t>IRIS</a:t>
            </a:r>
            <a:endParaRPr sz="160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Integrated into Artemis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Knows the lecture content and your submissions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Will </a:t>
            </a:r>
            <a:r>
              <a:rPr lang="en-GB" sz="1600" b="1"/>
              <a:t>help you</a:t>
            </a:r>
            <a:r>
              <a:rPr lang="en-GB" sz="1600"/>
              <a:t> get to the solution</a:t>
            </a:r>
            <a:endParaRPr sz="1600"/>
          </a:p>
        </p:txBody>
      </p:sp>
      <p:pic>
        <p:nvPicPr>
          <p:cNvPr id="217" name="Google Shape;21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4648" y="1631625"/>
            <a:ext cx="1579625" cy="355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8"/>
          <p:cNvPicPr preferRelativeResize="0"/>
          <p:nvPr/>
        </p:nvPicPr>
        <p:blipFill rotWithShape="1">
          <a:blip r:embed="rId4">
            <a:alphaModFix/>
          </a:blip>
          <a:srcRect l="27803" t="13756"/>
          <a:stretch/>
        </p:blipFill>
        <p:spPr>
          <a:xfrm>
            <a:off x="5444400" y="3690550"/>
            <a:ext cx="953825" cy="925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9" name="Google Shape;219;p38"/>
          <p:cNvCxnSpPr>
            <a:stCxn id="218" idx="0"/>
          </p:cNvCxnSpPr>
          <p:nvPr/>
        </p:nvCxnSpPr>
        <p:spPr>
          <a:xfrm rot="10800000" flipH="1">
            <a:off x="5921312" y="2937550"/>
            <a:ext cx="852900" cy="7530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types in Java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Data Types</a:t>
            </a:r>
            <a:endParaRPr/>
          </a:p>
        </p:txBody>
      </p:sp>
      <p:graphicFrame>
        <p:nvGraphicFramePr>
          <p:cNvPr id="230" name="Google Shape;230;p40"/>
          <p:cNvGraphicFramePr/>
          <p:nvPr/>
        </p:nvGraphicFramePr>
        <p:xfrm>
          <a:off x="952500" y="1193175"/>
          <a:ext cx="7239000" cy="3122590"/>
        </p:xfrm>
        <a:graphic>
          <a:graphicData uri="http://schemas.openxmlformats.org/drawingml/2006/table">
            <a:tbl>
              <a:tblPr>
                <a:noFill/>
                <a:tableStyleId>{62C506A5-DACD-4304-9C03-6761F9254842}</a:tableStyleId>
              </a:tblPr>
              <a:tblGrid>
                <a:gridCol w="136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Data type</a:t>
                      </a:r>
                      <a:endParaRPr sz="13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Used when?</a:t>
                      </a:r>
                      <a:endParaRPr sz="13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</a:t>
                      </a:r>
                      <a:endParaRPr sz="13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String</a:t>
                      </a:r>
                      <a:endParaRPr sz="13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sequence of characters. </a:t>
                      </a:r>
                      <a:b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</a:br>
                      <a: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NOT a primitive data type</a:t>
                      </a:r>
                      <a:endParaRPr sz="13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String greeting = "Hello"</a:t>
                      </a:r>
                      <a:endParaRPr sz="13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int</a:t>
                      </a:r>
                      <a:endParaRPr sz="13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Whole numbers</a:t>
                      </a:r>
                      <a:endParaRPr sz="13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 i = 4</a:t>
                      </a:r>
                      <a:endParaRPr sz="13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double</a:t>
                      </a:r>
                      <a:endParaRPr sz="13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Real numbers (with decimal)</a:t>
                      </a:r>
                      <a:endParaRPr sz="13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double p = 30.3</a:t>
                      </a:r>
                      <a:endParaRPr sz="13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boolean</a:t>
                      </a:r>
                      <a:endParaRPr sz="13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True or false</a:t>
                      </a:r>
                      <a:endParaRPr sz="13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boolean completed = false</a:t>
                      </a:r>
                      <a:endParaRPr sz="13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</a:t>
                      </a:r>
                      <a:endParaRPr sz="13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single character.</a:t>
                      </a:r>
                      <a:endParaRPr sz="13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char a = 'a'</a:t>
                      </a:r>
                      <a:endParaRPr sz="13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1" name="Google Shape;231;p40"/>
          <p:cNvSpPr txBox="1"/>
          <p:nvPr/>
        </p:nvSpPr>
        <p:spPr>
          <a:xfrm>
            <a:off x="3052325" y="4343725"/>
            <a:ext cx="44904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When adding a new variable, you need to declare them!</a:t>
            </a:r>
            <a:endParaRPr sz="1800" b="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2" name="Google Shape;232;p40"/>
          <p:cNvSpPr txBox="1"/>
          <p:nvPr/>
        </p:nvSpPr>
        <p:spPr>
          <a:xfrm>
            <a:off x="915050" y="4478900"/>
            <a:ext cx="72819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Remember that int does NOT have an unlimited size!</a:t>
            </a:r>
            <a:endParaRPr sz="1800" b="1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Strings</a:t>
            </a:r>
            <a:endParaRPr/>
          </a:p>
        </p:txBody>
      </p:sp>
      <p:sp>
        <p:nvSpPr>
          <p:cNvPr id="238" name="Google Shape;238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Strings are formatted using </a:t>
            </a: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By using </a:t>
            </a: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GB"/>
              <a:t>+</a:t>
            </a: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GB"/>
              <a:t> you can concatenate a string. </a:t>
            </a:r>
            <a:endParaRPr/>
          </a:p>
        </p:txBody>
      </p:sp>
      <p:sp>
        <p:nvSpPr>
          <p:cNvPr id="239" name="Google Shape;239;p41"/>
          <p:cNvSpPr txBox="1"/>
          <p:nvPr/>
        </p:nvSpPr>
        <p:spPr>
          <a:xfrm>
            <a:off x="4527150" y="1159300"/>
            <a:ext cx="3925500" cy="225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first = "abc";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second = "def";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concat = first + second;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System.out.println(concat);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abcdef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Numbers (int, double)</a:t>
            </a:r>
            <a:endParaRPr/>
          </a:p>
        </p:txBody>
      </p:sp>
      <p:sp>
        <p:nvSpPr>
          <p:cNvPr id="245" name="Google Shape;245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50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+ - * / with all numerical classes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% “Modulo” : Remainder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When dividing int, Java will truncate the result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But: If a double involved, it converts automatically</a:t>
            </a:r>
            <a:endParaRPr/>
          </a:p>
        </p:txBody>
      </p:sp>
      <p:sp>
        <p:nvSpPr>
          <p:cNvPr id="246" name="Google Shape;246;p42"/>
          <p:cNvSpPr txBox="1"/>
          <p:nvPr/>
        </p:nvSpPr>
        <p:spPr>
          <a:xfrm>
            <a:off x="4527150" y="1159300"/>
            <a:ext cx="4167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first = 3;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second = 2;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third = 5.5;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System.out.println(first+third);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7.5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System.out.println(first/second);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1 </a:t>
            </a:r>
            <a:b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3/2 = 1.5, but the 0.5 is truncated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System.out.println(third/second);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2.75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 (first%second);</a:t>
            </a:r>
            <a:b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1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Scanner</a:t>
            </a:r>
            <a:endParaRPr/>
          </a:p>
        </p:txBody>
      </p:sp>
      <p:sp>
        <p:nvSpPr>
          <p:cNvPr id="252" name="Google Shape;252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071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Helper class to help read input from keyboard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Not loaded by default</a:t>
            </a:r>
            <a:br>
              <a:rPr lang="en-GB"/>
            </a:br>
            <a:r>
              <a:rPr lang="en-GB"/>
              <a:t>=&gt; Import!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You can use methods of Scanner to process input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Be careful that the correct type is entered!</a:t>
            </a:r>
            <a:br>
              <a:rPr lang="en-GB"/>
            </a:br>
            <a:endParaRPr sz="1400"/>
          </a:p>
        </p:txBody>
      </p:sp>
      <p:sp>
        <p:nvSpPr>
          <p:cNvPr id="253" name="Google Shape;253;p43"/>
          <p:cNvSpPr txBox="1"/>
          <p:nvPr/>
        </p:nvSpPr>
        <p:spPr>
          <a:xfrm>
            <a:off x="4459625" y="1165475"/>
            <a:ext cx="4684500" cy="3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import java.util.Scanner; </a:t>
            </a:r>
            <a:b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Step 1: Import at the very top of the file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UserInput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static void main(String[] args)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// Step 2: Initialize the Scanner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Scanner scanner = new Scanner(System.in);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scanner.nextLine() =&gt; String</a:t>
            </a:r>
            <a:br>
              <a:rPr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scanner.nextInt() =&gt; Int</a:t>
            </a:r>
            <a:br>
              <a:rPr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scanner.nextDouble() =&gt; Double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Scanner bug</a:t>
            </a:r>
            <a:endParaRPr/>
          </a:p>
        </p:txBody>
      </p:sp>
      <p:sp>
        <p:nvSpPr>
          <p:cNvPr id="259" name="Google Shape;259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049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using multiple inputs: Scanner behaves erratically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Reason: The “enter” remains in the system, tricking the system into thinking that it is the next input.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=&gt;	Fix: After an e.g.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scanner.nextInt()</a:t>
            </a:r>
            <a:r>
              <a:rPr lang="en-GB"/>
              <a:t>, clear the input by using</a:t>
            </a:r>
            <a:br>
              <a:rPr lang="en-GB"/>
            </a:br>
            <a:r>
              <a:rPr lang="en-GB"/>
              <a:t>	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scanner.nextLine()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Exercise Block 1</a:t>
            </a:r>
            <a:endParaRPr/>
          </a:p>
        </p:txBody>
      </p:sp>
      <p:sp>
        <p:nvSpPr>
          <p:cNvPr id="265" name="Google Shape;265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Quiz 1: Data Types in Java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E00 Hello World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Create variables of different types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Learn to interact with the system and input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E01 Quiz Data Types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Verify your understanding of data types and when to use them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Booleans, if and else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Booleans</a:t>
            </a:r>
            <a:endParaRPr/>
          </a:p>
        </p:txBody>
      </p:sp>
      <p:sp>
        <p:nvSpPr>
          <p:cNvPr id="276" name="Google Shape;276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891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Either true or false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Either a variable or a statement!</a:t>
            </a:r>
            <a:br>
              <a:rPr lang="en-GB"/>
            </a:br>
            <a:r>
              <a:rPr lang="en-GB"/>
              <a:t>We use </a:t>
            </a:r>
            <a:r>
              <a:rPr lang="en-GB" b="1"/>
              <a:t>logical operators </a:t>
            </a:r>
            <a:r>
              <a:rPr lang="en-GB"/>
              <a:t>for the statements. </a:t>
            </a:r>
            <a:endParaRPr/>
          </a:p>
        </p:txBody>
      </p:sp>
      <p:sp>
        <p:nvSpPr>
          <p:cNvPr id="277" name="Google Shape;277;p47"/>
          <p:cNvSpPr txBox="1">
            <a:spLocks noGrp="1"/>
          </p:cNvSpPr>
          <p:nvPr>
            <p:ph type="body" idx="1"/>
          </p:nvPr>
        </p:nvSpPr>
        <p:spPr>
          <a:xfrm>
            <a:off x="4164525" y="1304875"/>
            <a:ext cx="4824900" cy="34164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public class Playground {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	static int z = 5;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	static boolean goodWeather = true;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    public static void main(String[] args){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		System.out.println(z == 6);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		System.out.println(goodWeather);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	}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&gt;&gt;&gt; false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&gt;&gt;&gt; true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Overview Logical Operators</a:t>
            </a:r>
            <a:endParaRPr/>
          </a:p>
        </p:txBody>
      </p:sp>
      <p:graphicFrame>
        <p:nvGraphicFramePr>
          <p:cNvPr id="283" name="Google Shape;283;p48"/>
          <p:cNvGraphicFramePr/>
          <p:nvPr/>
        </p:nvGraphicFramePr>
        <p:xfrm>
          <a:off x="952500" y="1177825"/>
          <a:ext cx="7239000" cy="3078390"/>
        </p:xfrm>
        <a:graphic>
          <a:graphicData uri="http://schemas.openxmlformats.org/drawingml/2006/table">
            <a:tbl>
              <a:tblPr>
                <a:noFill/>
                <a:tableStyleId>{62C506A5-DACD-4304-9C03-6761F9254842}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Operator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Meaning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Example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==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True if both equal, else false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var1 == var2</a:t>
                      </a:r>
                      <a:endParaRPr sz="11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&lt;=, &gt;=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If larger(smaller)  or equal to, then true, else false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 &gt;= 4</a:t>
                      </a:r>
                      <a:br>
                        <a:rPr lang="en-GB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lang="en-GB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 &lt;= 10</a:t>
                      </a:r>
                      <a:endParaRPr sz="11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&lt;, &gt;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If larger (smaller) then true, else false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 &gt; 4</a:t>
                      </a:r>
                      <a:br>
                        <a:rPr lang="en-GB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lang="en-GB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 &lt; 10</a:t>
                      </a:r>
                      <a:endParaRPr sz="11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&amp;&amp;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True both fulfilled, false otherwise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var1 == var2 &amp;&amp; x &gt; 4</a:t>
                      </a:r>
                      <a:endParaRPr sz="11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||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True if one of the two are fulfilled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var1 == var2 || x &gt; 4</a:t>
                      </a:r>
                      <a:endParaRPr sz="11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!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True if opposite of what follows is true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!isSunny</a:t>
                      </a:r>
                      <a:endParaRPr sz="11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4" name="Google Shape;284;p48"/>
          <p:cNvSpPr txBox="1"/>
          <p:nvPr/>
        </p:nvSpPr>
        <p:spPr>
          <a:xfrm>
            <a:off x="963200" y="4450000"/>
            <a:ext cx="76092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COMMON MISTAKE: “==” -&gt; Boolean. “=” -&gt; Assigns value!!!</a:t>
            </a:r>
            <a:endParaRPr sz="1800" b="1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</a:t>
            </a:r>
            <a:endParaRPr/>
          </a:p>
        </p:txBody>
      </p:sp>
      <p:sp>
        <p:nvSpPr>
          <p:cNvPr id="290" name="Google Shape;290;p49"/>
          <p:cNvSpPr txBox="1">
            <a:spLocks noGrp="1"/>
          </p:cNvSpPr>
          <p:nvPr>
            <p:ph type="body" idx="1"/>
          </p:nvPr>
        </p:nvSpPr>
        <p:spPr>
          <a:xfrm>
            <a:off x="4622550" y="1152475"/>
            <a:ext cx="4209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boolean playVolleyball = false;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boolean goodWeather = true;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if(goodWeather == true){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playVolleyball = true;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// We decide to play volleyball if the weather is nice!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1" name="Google Shape;291;p49"/>
          <p:cNvSpPr txBox="1"/>
          <p:nvPr/>
        </p:nvSpPr>
        <p:spPr>
          <a:xfrm>
            <a:off x="454925" y="1452800"/>
            <a:ext cx="3646800" cy="12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</a:t>
            </a:r>
            <a:r>
              <a:rPr lang="en-GB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lang="en-GB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execute if true</a:t>
            </a:r>
            <a:endParaRPr sz="1800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2" name="Google Shape;292;p49"/>
          <p:cNvSpPr/>
          <p:nvPr/>
        </p:nvSpPr>
        <p:spPr>
          <a:xfrm>
            <a:off x="1328050" y="2861600"/>
            <a:ext cx="1350000" cy="572700"/>
          </a:xfrm>
          <a:prstGeom prst="diamon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condition</a:t>
            </a:r>
            <a:endParaRPr sz="200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3" name="Google Shape;293;p49"/>
          <p:cNvSpPr/>
          <p:nvPr/>
        </p:nvSpPr>
        <p:spPr>
          <a:xfrm>
            <a:off x="2920275" y="3639350"/>
            <a:ext cx="1306200" cy="54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Code</a:t>
            </a:r>
            <a:endParaRPr>
              <a:solidFill>
                <a:srgbClr val="00FF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94" name="Google Shape;294;p49"/>
          <p:cNvCxnSpPr>
            <a:stCxn id="292" idx="3"/>
            <a:endCxn id="293" idx="0"/>
          </p:cNvCxnSpPr>
          <p:nvPr/>
        </p:nvCxnSpPr>
        <p:spPr>
          <a:xfrm>
            <a:off x="2678050" y="3147950"/>
            <a:ext cx="895200" cy="491400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</p:cxnSp>
      <p:cxnSp>
        <p:nvCxnSpPr>
          <p:cNvPr id="295" name="Google Shape;295;p49"/>
          <p:cNvCxnSpPr>
            <a:stCxn id="292" idx="2"/>
          </p:cNvCxnSpPr>
          <p:nvPr/>
        </p:nvCxnSpPr>
        <p:spPr>
          <a:xfrm flipH="1">
            <a:off x="1995850" y="3434300"/>
            <a:ext cx="7200" cy="1613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6" name="Google Shape;296;p49"/>
          <p:cNvSpPr txBox="1"/>
          <p:nvPr/>
        </p:nvSpPr>
        <p:spPr>
          <a:xfrm>
            <a:off x="2876200" y="2905625"/>
            <a:ext cx="498900" cy="58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true?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97" name="Google Shape;297;p49"/>
          <p:cNvCxnSpPr>
            <a:stCxn id="293" idx="2"/>
          </p:cNvCxnSpPr>
          <p:nvPr/>
        </p:nvCxnSpPr>
        <p:spPr>
          <a:xfrm rot="5400000">
            <a:off x="2564475" y="3621050"/>
            <a:ext cx="447600" cy="15702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98" name="Google Shape;298;p49"/>
          <p:cNvSpPr txBox="1"/>
          <p:nvPr/>
        </p:nvSpPr>
        <p:spPr>
          <a:xfrm>
            <a:off x="2025125" y="3551300"/>
            <a:ext cx="549600" cy="1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false?</a:t>
            </a:r>
            <a:endParaRPr sz="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99" name="Google Shape;299;p49"/>
          <p:cNvCxnSpPr>
            <a:endCxn id="292" idx="0"/>
          </p:cNvCxnSpPr>
          <p:nvPr/>
        </p:nvCxnSpPr>
        <p:spPr>
          <a:xfrm flipH="1">
            <a:off x="2003050" y="2340500"/>
            <a:ext cx="7500" cy="521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0"/>
          <p:cNvSpPr txBox="1">
            <a:spLocks noGrp="1"/>
          </p:cNvSpPr>
          <p:nvPr>
            <p:ph type="title"/>
          </p:nvPr>
        </p:nvSpPr>
        <p:spPr>
          <a:xfrm>
            <a:off x="311700" y="481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if-else</a:t>
            </a:r>
            <a:endParaRPr/>
          </a:p>
        </p:txBody>
      </p:sp>
      <p:sp>
        <p:nvSpPr>
          <p:cNvPr id="305" name="Google Shape;305;p50"/>
          <p:cNvSpPr txBox="1">
            <a:spLocks noGrp="1"/>
          </p:cNvSpPr>
          <p:nvPr>
            <p:ph type="body" idx="1"/>
          </p:nvPr>
        </p:nvSpPr>
        <p:spPr>
          <a:xfrm>
            <a:off x="4402425" y="1152475"/>
            <a:ext cx="4429800" cy="34164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boolean goodWeather = true;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boolean playVolleyball = false;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boolean studyDay = false;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if(goodWeather == true){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	playVolleyball = true;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} else {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	studyDay = true;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// We decide to play volleyball if the weather is nice! But, if the weather is not nice we decide to study instead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6" name="Google Shape;306;p50"/>
          <p:cNvSpPr txBox="1"/>
          <p:nvPr/>
        </p:nvSpPr>
        <p:spPr>
          <a:xfrm>
            <a:off x="458600" y="1152463"/>
            <a:ext cx="3646800" cy="12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(condition)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execute if true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-GB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{</a:t>
            </a:r>
            <a:br>
              <a:rPr lang="en-GB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Execute if not true</a:t>
            </a:r>
            <a:br>
              <a:rPr lang="en-GB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7" name="Google Shape;307;p50"/>
          <p:cNvSpPr/>
          <p:nvPr/>
        </p:nvSpPr>
        <p:spPr>
          <a:xfrm>
            <a:off x="865525" y="2734475"/>
            <a:ext cx="1350000" cy="572700"/>
          </a:xfrm>
          <a:prstGeom prst="diamon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condition</a:t>
            </a:r>
            <a:endParaRPr sz="200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8" name="Google Shape;308;p50"/>
          <p:cNvSpPr/>
          <p:nvPr/>
        </p:nvSpPr>
        <p:spPr>
          <a:xfrm>
            <a:off x="2414000" y="3486800"/>
            <a:ext cx="1306200" cy="54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Code</a:t>
            </a:r>
            <a:endParaRPr>
              <a:solidFill>
                <a:srgbClr val="00FF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09" name="Google Shape;309;p50"/>
          <p:cNvCxnSpPr>
            <a:stCxn id="307" idx="3"/>
            <a:endCxn id="308" idx="0"/>
          </p:cNvCxnSpPr>
          <p:nvPr/>
        </p:nvCxnSpPr>
        <p:spPr>
          <a:xfrm>
            <a:off x="2215525" y="3020825"/>
            <a:ext cx="851700" cy="465900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</p:cxnSp>
      <p:sp>
        <p:nvSpPr>
          <p:cNvPr id="310" name="Google Shape;310;p50"/>
          <p:cNvSpPr txBox="1"/>
          <p:nvPr/>
        </p:nvSpPr>
        <p:spPr>
          <a:xfrm>
            <a:off x="2369925" y="2753075"/>
            <a:ext cx="498900" cy="58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true?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11" name="Google Shape;311;p50"/>
          <p:cNvCxnSpPr>
            <a:stCxn id="308" idx="2"/>
          </p:cNvCxnSpPr>
          <p:nvPr/>
        </p:nvCxnSpPr>
        <p:spPr>
          <a:xfrm rot="5400000">
            <a:off x="2058200" y="3468500"/>
            <a:ext cx="447600" cy="15702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12" name="Google Shape;312;p50"/>
          <p:cNvSpPr txBox="1"/>
          <p:nvPr/>
        </p:nvSpPr>
        <p:spPr>
          <a:xfrm>
            <a:off x="1518875" y="3332600"/>
            <a:ext cx="549600" cy="154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false?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13" name="Google Shape;313;p50"/>
          <p:cNvCxnSpPr>
            <a:endCxn id="307" idx="0"/>
          </p:cNvCxnSpPr>
          <p:nvPr/>
        </p:nvCxnSpPr>
        <p:spPr>
          <a:xfrm flipH="1">
            <a:off x="1540525" y="2294375"/>
            <a:ext cx="3300" cy="440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4" name="Google Shape;314;p50"/>
          <p:cNvSpPr/>
          <p:nvPr/>
        </p:nvSpPr>
        <p:spPr>
          <a:xfrm>
            <a:off x="1115275" y="3662875"/>
            <a:ext cx="850500" cy="432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Code</a:t>
            </a:r>
            <a:endParaRPr>
              <a:solidFill>
                <a:srgbClr val="00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15" name="Google Shape;315;p50"/>
          <p:cNvCxnSpPr>
            <a:stCxn id="307" idx="2"/>
            <a:endCxn id="314" idx="0"/>
          </p:cNvCxnSpPr>
          <p:nvPr/>
        </p:nvCxnSpPr>
        <p:spPr>
          <a:xfrm>
            <a:off x="1540525" y="3307175"/>
            <a:ext cx="0" cy="35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6" name="Google Shape;316;p50"/>
          <p:cNvCxnSpPr>
            <a:stCxn id="314" idx="2"/>
          </p:cNvCxnSpPr>
          <p:nvPr/>
        </p:nvCxnSpPr>
        <p:spPr>
          <a:xfrm flipH="1">
            <a:off x="1518925" y="4095775"/>
            <a:ext cx="21600" cy="77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Nested if/else	</a:t>
            </a:r>
            <a:endParaRPr/>
          </a:p>
        </p:txBody>
      </p:sp>
      <p:sp>
        <p:nvSpPr>
          <p:cNvPr id="322" name="Google Shape;322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371100" cy="17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Often, logic and algorithmic problems can get complex! In that case, nested if-statements are often used.</a:t>
            </a:r>
            <a:endParaRPr/>
          </a:p>
        </p:txBody>
      </p:sp>
      <p:sp>
        <p:nvSpPr>
          <p:cNvPr id="323" name="Google Shape;323;p51"/>
          <p:cNvSpPr txBox="1"/>
          <p:nvPr/>
        </p:nvSpPr>
        <p:spPr>
          <a:xfrm>
            <a:off x="3915900" y="1056675"/>
            <a:ext cx="4949100" cy="3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main(String[] args)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number = 5;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(number &lt; 10)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(number % 2 == 0)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System.out.println("Number is smaller than 10 and even");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 else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System.out.println("Number is smaller than 10 and odd");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 else if (number == 10)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System.out.println("Number is equal 10");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 else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(number % 2 == 0)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System.out.println("Number is bigger than 10 and even");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 else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System.out.println("Number is bigger than 10 and odd");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4" name="Google Shape;324;p51"/>
          <p:cNvSpPr/>
          <p:nvPr/>
        </p:nvSpPr>
        <p:spPr>
          <a:xfrm>
            <a:off x="598250" y="3473025"/>
            <a:ext cx="2921400" cy="86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entury Gothic"/>
                <a:ea typeface="Century Gothic"/>
                <a:cs typeface="Century Gothic"/>
                <a:sym typeface="Century Gothic"/>
              </a:rPr>
              <a:t>How else could the code on the right be written?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Exercise Block 2</a:t>
            </a:r>
            <a:endParaRPr/>
          </a:p>
        </p:txBody>
      </p:sp>
      <p:sp>
        <p:nvSpPr>
          <p:cNvPr id="330" name="Google Shape;330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E02 Weekdays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Implement a simple program that returns a weekday from an integer input.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This exercise uses MiniJava; A toolkit built into the exercise. Pay attention to the exercise instructions!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E03 Four Seasons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Using nested if statements, determine the season based on the month and day. 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Loops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while</a:t>
            </a:r>
            <a:endParaRPr/>
          </a:p>
        </p:txBody>
      </p:sp>
      <p:sp>
        <p:nvSpPr>
          <p:cNvPr id="341" name="Google Shape;341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 a block of code again and again until </a:t>
            </a:r>
            <a:r>
              <a:rPr lang="en-GB" b="1"/>
              <a:t>terminating condition met.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>
                <a:solidFill>
                  <a:srgbClr val="FF0000"/>
                </a:solidFill>
              </a:rPr>
              <a:t>Remember to make sure that your loop will somehow terminate!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42" name="Google Shape;342;p54"/>
          <p:cNvSpPr txBox="1">
            <a:spLocks noGrp="1"/>
          </p:cNvSpPr>
          <p:nvPr>
            <p:ph type="body" idx="1"/>
          </p:nvPr>
        </p:nvSpPr>
        <p:spPr>
          <a:xfrm>
            <a:off x="4800300" y="1878600"/>
            <a:ext cx="4032000" cy="13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while(</a:t>
            </a:r>
            <a:r>
              <a:rPr lang="en-GB" sz="14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condition == true</a:t>
            </a: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){</a:t>
            </a:r>
            <a:b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Code to run;</a:t>
            </a:r>
            <a:b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</a:t>
            </a:r>
            <a:endParaRPr/>
          </a:p>
        </p:txBody>
      </p:sp>
      <p:sp>
        <p:nvSpPr>
          <p:cNvPr id="348" name="Google Shape;348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002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for(</a:t>
            </a:r>
            <a:r>
              <a:rPr lang="en-GB" sz="1400" b="1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int i = 0</a:t>
            </a: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-GB" sz="14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 &lt; 5</a:t>
            </a: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-GB" sz="1400" b="1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i++</a:t>
            </a: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){</a:t>
            </a:r>
            <a:b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System.out.println(i);</a:t>
            </a:r>
            <a:b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chemeClr val="accent1"/>
                </a:solidFill>
              </a:rPr>
              <a:t>Declare a “counter”.</a:t>
            </a:r>
            <a:br>
              <a:rPr lang="en-GB" sz="1400">
                <a:solidFill>
                  <a:srgbClr val="00FF00"/>
                </a:solidFill>
              </a:rPr>
            </a:br>
            <a:r>
              <a:rPr lang="en-GB" sz="1400">
                <a:solidFill>
                  <a:srgbClr val="FF0000"/>
                </a:solidFill>
              </a:rPr>
              <a:t>Determine a condition when the loop is active.</a:t>
            </a:r>
            <a:br>
              <a:rPr lang="en-GB" sz="1400">
                <a:solidFill>
                  <a:srgbClr val="FF0000"/>
                </a:solidFill>
              </a:rPr>
            </a:br>
            <a:r>
              <a:rPr lang="en-GB" sz="1400">
                <a:solidFill>
                  <a:schemeClr val="accent3"/>
                </a:solidFill>
              </a:rPr>
              <a:t>Increment the counter. This ensures that somehow, the terminating condition is met!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349" name="Google Shape;349;p55"/>
          <p:cNvSpPr txBox="1">
            <a:spLocks noGrp="1"/>
          </p:cNvSpPr>
          <p:nvPr>
            <p:ph type="body" idx="1"/>
          </p:nvPr>
        </p:nvSpPr>
        <p:spPr>
          <a:xfrm>
            <a:off x="4697750" y="1152475"/>
            <a:ext cx="3797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Example: 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The factorial of a number n (n!)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int n = 5;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int result = 1;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for(int i=2; i&lt;=n; i++){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result = result * i;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System.out.println(result);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Exercise Block 3</a:t>
            </a:r>
            <a:endParaRPr/>
          </a:p>
        </p:txBody>
      </p:sp>
      <p:sp>
        <p:nvSpPr>
          <p:cNvPr id="355" name="Google Shape;355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E04 Sum Up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Use a while loop to sum up several inputs until a condition is met.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E05 Sum Up to N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Use a combination of loops to compute the sum of all integers smaller or equal to the integer given.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E08 Prime Factors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Write an algorithm to find all prime factors of a number.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Day 1: Student Feedback Survey</a:t>
            </a:r>
            <a:endParaRPr/>
          </a:p>
        </p:txBody>
      </p:sp>
      <p:pic>
        <p:nvPicPr>
          <p:cNvPr id="361" name="Google Shape;361;p57" title="adobe-express-qr-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5575" y="1184725"/>
            <a:ext cx="3604525" cy="360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Arrays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Arrays</a:t>
            </a:r>
            <a:endParaRPr/>
          </a:p>
        </p:txBody>
      </p:sp>
      <p:sp>
        <p:nvSpPr>
          <p:cNvPr id="372" name="Google Shape;372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611300" cy="36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 </a:t>
            </a:r>
            <a:r>
              <a:rPr lang="en-GB" b="1"/>
              <a:t>fixed-size collections </a:t>
            </a:r>
            <a:r>
              <a:rPr lang="en-GB"/>
              <a:t>of elements of the </a:t>
            </a:r>
            <a:r>
              <a:rPr lang="en-GB" b="1"/>
              <a:t>same data type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int[] numbers = new int[3];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/>
              <a:t>=&gt; We have created an array of integers, of the fixed size 3.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numbers[0]=2;</a:t>
            </a:r>
            <a:br>
              <a:rPr lang="en-GB" sz="15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numbers[1]=3;</a:t>
            </a:r>
            <a:br>
              <a:rPr lang="en-GB" sz="15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numbers[2]=5;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System.out.println(numbers[2]);</a:t>
            </a:r>
            <a:br>
              <a:rPr lang="en-GB" sz="15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&gt;&gt;&gt; 5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numbers.length</a:t>
            </a:r>
            <a:br>
              <a:rPr lang="en-GB" sz="15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&gt;&gt;&gt; 3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3" name="Google Shape;373;p59"/>
          <p:cNvSpPr txBox="1">
            <a:spLocks noGrp="1"/>
          </p:cNvSpPr>
          <p:nvPr>
            <p:ph type="body" idx="1"/>
          </p:nvPr>
        </p:nvSpPr>
        <p:spPr>
          <a:xfrm>
            <a:off x="5451675" y="1496825"/>
            <a:ext cx="3600900" cy="32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Remember: 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 index starts from 0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 length of the array cannot be modified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/>
              <a:t>You can get the length of the array by using </a:t>
            </a:r>
            <a:r>
              <a:rPr lang="en-GB" sz="1500" i="1"/>
              <a:t>arrayname.</a:t>
            </a:r>
            <a:r>
              <a:rPr lang="en-GB" sz="1500"/>
              <a:t>length;</a:t>
            </a:r>
            <a:endParaRPr sz="15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arrays</a:t>
            </a:r>
            <a:endParaRPr/>
          </a:p>
        </p:txBody>
      </p:sp>
      <p:sp>
        <p:nvSpPr>
          <p:cNvPr id="379" name="Google Shape;379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No need to declare countless variables if they are part of a set; </a:t>
            </a:r>
            <a:br>
              <a:rPr lang="en-GB"/>
            </a:br>
            <a:r>
              <a:rPr lang="en-GB"/>
              <a:t>Just declare it once.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Quick to read and modify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Are the foundation for other data structures (e.g. ArrayLists)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You can use arrays to model a matrix: 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[][] matrix = new int[i][j] // An ixj-matrix.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0" name="Google Shape;380;p60"/>
          <p:cNvSpPr txBox="1"/>
          <p:nvPr/>
        </p:nvSpPr>
        <p:spPr>
          <a:xfrm>
            <a:off x="462325" y="4141775"/>
            <a:ext cx="7426200" cy="6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CRUCIAL: Do NOT modify an array WHILE accessing it.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Loops and Arrays</a:t>
            </a:r>
            <a:endParaRPr/>
          </a:p>
        </p:txBody>
      </p:sp>
      <p:sp>
        <p:nvSpPr>
          <p:cNvPr id="386" name="Google Shape;386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260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Frequently, when manipulating an array or reading data, you need to access all =&gt; Use for loops. 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/>
              <a:t>In this example, the average of the values of an int[] array is calculated</a:t>
            </a:r>
            <a:endParaRPr sz="1400"/>
          </a:p>
        </p:txBody>
      </p:sp>
      <p:sp>
        <p:nvSpPr>
          <p:cNvPr id="387" name="Google Shape;387;p61"/>
          <p:cNvSpPr txBox="1"/>
          <p:nvPr/>
        </p:nvSpPr>
        <p:spPr>
          <a:xfrm>
            <a:off x="3676650" y="1123950"/>
            <a:ext cx="5305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ArrayAverage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static void main(String[] args)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int[] scores = {85, 90, 77, 92, 88};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sum = 0;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// 3. Iterate through the array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 i = 0; i &lt; scores.length; i++)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sum = sum + scores[i];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double average = (double) sum / scores.length;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System.out.println("The total sum is: " + sum);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System.out.println("The calculated average is: " + average);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Exercise Block 4</a:t>
            </a:r>
            <a:endParaRPr/>
          </a:p>
        </p:txBody>
      </p:sp>
      <p:sp>
        <p:nvSpPr>
          <p:cNvPr id="393" name="Google Shape;393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/>
              <a:t>E07 Numerical Properties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Implement helper methods for integer arrays.</a:t>
            </a:r>
            <a:endParaRPr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Methods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methods?</a:t>
            </a:r>
            <a:endParaRPr/>
          </a:p>
        </p:txBody>
      </p:sp>
      <p:sp>
        <p:nvSpPr>
          <p:cNvPr id="404" name="Google Shape;404;p6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Don’t Repeat Yourself: Write code once and reuse it by calling the method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Methods help divide a problem into smaller chunks: </a:t>
            </a:r>
            <a:br>
              <a:rPr lang="en-GB"/>
            </a:br>
            <a:r>
              <a:rPr lang="en-GB"/>
              <a:t>Helps with understanding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Components of a method</a:t>
            </a:r>
            <a:endParaRPr/>
          </a:p>
        </p:txBody>
      </p:sp>
      <p:sp>
        <p:nvSpPr>
          <p:cNvPr id="410" name="Google Shape;410;p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6013200" cy="33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greetUser</a:t>
            </a: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GB" sz="14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String user</a:t>
            </a: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){</a:t>
            </a:r>
            <a:b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14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System.out.println(Hello " + user + "!");</a:t>
            </a:r>
            <a:br>
              <a:rPr lang="en-GB" sz="14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14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return "Greeted " + user;</a:t>
            </a:r>
            <a:b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accent1"/>
                </a:solidFill>
              </a:rPr>
              <a:t>Return type: What type of data does it return?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(Note: If no return type, it is “void”)</a:t>
            </a:r>
            <a:endParaRPr sz="14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Method name: Always make sure it is clear what the method does.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accent4"/>
                </a:solidFill>
              </a:rPr>
              <a:t>Input: What goes into the method?</a:t>
            </a:r>
            <a:endParaRPr sz="1400"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FF00"/>
                </a:solidFill>
              </a:rPr>
              <a:t>Code block: What is executed when method is called. </a:t>
            </a:r>
            <a:endParaRPr sz="1400">
              <a:solidFill>
                <a:srgbClr val="00FF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rgbClr val="FF00FF"/>
                </a:solidFill>
              </a:rPr>
              <a:t>return: Return the return type specified above. </a:t>
            </a:r>
            <a:r>
              <a:rPr lang="en-GB" sz="1400" b="1">
                <a:solidFill>
                  <a:srgbClr val="FF00FF"/>
                </a:solidFill>
              </a:rPr>
              <a:t>Terminates the method</a:t>
            </a:r>
            <a:endParaRPr sz="1400" b="1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Static methods</a:t>
            </a:r>
            <a:endParaRPr/>
          </a:p>
        </p:txBody>
      </p:sp>
      <p:sp>
        <p:nvSpPr>
          <p:cNvPr id="416" name="Google Shape;416;p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“Utility helpers”: Take input, process it, and throw it out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b="1"/>
              <a:t>Can only interact with other static variables or variables passed into them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Examples: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Math.max(a,b)</a:t>
            </a: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 // Returns the largest of the input variables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Integer.parseInt(String i)</a:t>
            </a: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 // Takes in a string and returns integer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Arrays.sort(int</a:t>
            </a:r>
            <a:r>
              <a:rPr lang="en-GB" sz="1500" b="1">
                <a:latin typeface="Courier New"/>
                <a:ea typeface="Courier New"/>
                <a:cs typeface="Courier New"/>
                <a:sym typeface="Courier New"/>
              </a:rPr>
              <a:t>[] a)</a:t>
            </a: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 // Takes array of int, returns sorted array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Calling a method</a:t>
            </a:r>
            <a:endParaRPr/>
          </a:p>
        </p:txBody>
      </p:sp>
      <p:sp>
        <p:nvSpPr>
          <p:cNvPr id="422" name="Google Shape;422;p6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575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Within your code, write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methodname(input)</a:t>
            </a:r>
            <a:r>
              <a:rPr lang="en-GB"/>
              <a:t>in place of where the code should be.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Make sure that the return type matches what should be at that place!</a:t>
            </a:r>
            <a:endParaRPr/>
          </a:p>
        </p:txBody>
      </p:sp>
      <p:sp>
        <p:nvSpPr>
          <p:cNvPr id="423" name="Google Shape;423;p67"/>
          <p:cNvSpPr txBox="1"/>
          <p:nvPr/>
        </p:nvSpPr>
        <p:spPr>
          <a:xfrm>
            <a:off x="4572000" y="1126600"/>
            <a:ext cx="4300800" cy="3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static String sayHi(int languageOption){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GB" sz="1200" b="1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if(languageOption == 1){</a:t>
            </a:r>
            <a:endParaRPr sz="1200" b="1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return "hola";</a:t>
            </a:r>
            <a:endParaRPr sz="1200" b="1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        } else {</a:t>
            </a:r>
            <a:endParaRPr sz="1200" b="1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return "Hello";</a:t>
            </a:r>
            <a:endParaRPr sz="1200" b="1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200" b="1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static void main (String[] args){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languageOption = 3;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GB" sz="1200" b="1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sayHi(languageOption)</a:t>
            </a: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&gt;&gt;&gt; hello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errors</a:t>
            </a:r>
            <a:endParaRPr/>
          </a:p>
        </p:txBody>
      </p:sp>
      <p:sp>
        <p:nvSpPr>
          <p:cNvPr id="429" name="Google Shape;429;p6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18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Return type violations (wrong type, or forgot “return”)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“return” too early: The code terminates at return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Wrong method call (incorrect arguments etc)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Scope misunderstandings</a:t>
            </a:r>
            <a:endParaRPr/>
          </a:p>
        </p:txBody>
      </p:sp>
      <p:sp>
        <p:nvSpPr>
          <p:cNvPr id="430" name="Google Shape;430;p68"/>
          <p:cNvSpPr txBox="1"/>
          <p:nvPr/>
        </p:nvSpPr>
        <p:spPr>
          <a:xfrm>
            <a:off x="4723950" y="1227600"/>
            <a:ext cx="4055700" cy="34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countNumbers (int[] numbers){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sum = 0;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for(int number : numbers){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sum += number;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sum;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String.valueOf(sum);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//Can you find the errors?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Tip: for( … : … ) is called an enhanced for-loop (the easier version). It iterates through the collection without using an index!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Exercise Block 5</a:t>
            </a:r>
            <a:endParaRPr/>
          </a:p>
        </p:txBody>
      </p:sp>
      <p:sp>
        <p:nvSpPr>
          <p:cNvPr id="436" name="Google Shape;436;p6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E06 Calculator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Create a straightforward calculator in Java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Implementing helper methods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Implementing simple UI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E09 Quiz Gaps in the Program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 Oriented Programming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 what is OOP?</a:t>
            </a:r>
            <a:endParaRPr/>
          </a:p>
        </p:txBody>
      </p:sp>
      <p:sp>
        <p:nvSpPr>
          <p:cNvPr id="447" name="Google Shape;447;p7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36000" cy="36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Code is organised around entities (e.g. car, door, driver etc)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Used to model real world entities and relationships, attributes and behaviours.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 attributes can be implemented in different ways</a:t>
            </a:r>
            <a:endParaRPr/>
          </a:p>
        </p:txBody>
      </p:sp>
      <p:sp>
        <p:nvSpPr>
          <p:cNvPr id="448" name="Google Shape;448;p71"/>
          <p:cNvSpPr txBox="1"/>
          <p:nvPr/>
        </p:nvSpPr>
        <p:spPr>
          <a:xfrm>
            <a:off x="4247700" y="1152475"/>
            <a:ext cx="4896300" cy="21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-GB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Car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Engine engine;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Door door1;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Door door2;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Seat seat;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Driver driver;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Car (Engine engine, Door[] doors, Driver driver){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this.engine = engine;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this.door1 = doors[0];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this.door2 = doors[1];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this.seat = new Seat("default");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this.driver = driver;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Classes</a:t>
            </a:r>
            <a:endParaRPr/>
          </a:p>
        </p:txBody>
      </p:sp>
      <p:sp>
        <p:nvSpPr>
          <p:cNvPr id="454" name="Google Shape;454;p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Java has some pre-defined classes (e.g. String, int, etc)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Custom classes can be created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 class has its attributes and its methods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=&gt; Tells Java </a:t>
            </a:r>
            <a:r>
              <a:rPr lang="en-GB" b="1"/>
              <a:t>what the object is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Access modifiers</a:t>
            </a:r>
            <a:endParaRPr/>
          </a:p>
        </p:txBody>
      </p:sp>
      <p:sp>
        <p:nvSpPr>
          <p:cNvPr id="460" name="Google Shape;460;p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=&gt; Defined when declaring the variable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private: The variable is only visible within this class.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public: The variable is visible everywhere.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an object has:</a:t>
            </a:r>
            <a:endParaRPr/>
          </a:p>
        </p:txBody>
      </p:sp>
      <p:sp>
        <p:nvSpPr>
          <p:cNvPr id="466" name="Google Shape;466;p74"/>
          <p:cNvSpPr txBox="1">
            <a:spLocks noGrp="1"/>
          </p:cNvSpPr>
          <p:nvPr>
            <p:ph type="body" idx="1"/>
          </p:nvPr>
        </p:nvSpPr>
        <p:spPr>
          <a:xfrm>
            <a:off x="311700" y="1203325"/>
            <a:ext cx="4560300" cy="16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/>
              <a:t>Attributes</a:t>
            </a:r>
            <a:endParaRPr sz="15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/>
              <a:t>=&gt; What properties are given about the object? </a:t>
            </a:r>
            <a:endParaRPr sz="1500"/>
          </a:p>
          <a:p>
            <a:pPr marL="457200" lvl="0" indent="-316706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-GB" sz="1500"/>
              <a:t>Normally, use the </a:t>
            </a:r>
            <a:r>
              <a:rPr lang="en-GB" sz="1500" b="1"/>
              <a:t>private </a:t>
            </a:r>
            <a:r>
              <a:rPr lang="en-GB" sz="1500"/>
              <a:t>keyword</a:t>
            </a:r>
            <a:endParaRPr sz="1500"/>
          </a:p>
          <a:p>
            <a:pPr marL="457200" lvl="0" indent="-316706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 sz="1500"/>
              <a:t>Either initialize the attributes directly or in the constructor</a:t>
            </a:r>
            <a:endParaRPr sz="1500"/>
          </a:p>
        </p:txBody>
      </p:sp>
      <p:sp>
        <p:nvSpPr>
          <p:cNvPr id="467" name="Google Shape;467;p74"/>
          <p:cNvSpPr txBox="1"/>
          <p:nvPr/>
        </p:nvSpPr>
        <p:spPr>
          <a:xfrm>
            <a:off x="5048125" y="1151975"/>
            <a:ext cx="3727500" cy="3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Car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Engine engine;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Door door1;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Door door2;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Seat seat;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	private Driver driver;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Private int fuelLvl = 100;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an object has:</a:t>
            </a:r>
            <a:endParaRPr/>
          </a:p>
        </p:txBody>
      </p:sp>
      <p:sp>
        <p:nvSpPr>
          <p:cNvPr id="473" name="Google Shape;473;p75"/>
          <p:cNvSpPr txBox="1">
            <a:spLocks noGrp="1"/>
          </p:cNvSpPr>
          <p:nvPr>
            <p:ph type="body" idx="1"/>
          </p:nvPr>
        </p:nvSpPr>
        <p:spPr>
          <a:xfrm>
            <a:off x="311700" y="1915050"/>
            <a:ext cx="5947200" cy="26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Constructor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=&gt; How to initialize the object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public Car (Engine engine, Door[] doors, Driver driver){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        this.engine = engine;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        this.door1 = doors[0];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        this.door2 = doors[1];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        this.seat = new Seat("default");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        this.driver = driver;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an object has:</a:t>
            </a:r>
            <a:endParaRPr/>
          </a:p>
        </p:txBody>
      </p:sp>
      <p:sp>
        <p:nvSpPr>
          <p:cNvPr id="479" name="Google Shape;479;p7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797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Getters and Setters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Getters: </a:t>
            </a:r>
            <a:r>
              <a:rPr lang="en-GB" b="1"/>
              <a:t>public </a:t>
            </a:r>
            <a:r>
              <a:rPr lang="en-GB"/>
              <a:t>methods that retrieve private attributes from outside the class.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Setters: methods that change (set) private attributes of the class. </a:t>
            </a:r>
            <a:endParaRPr/>
          </a:p>
        </p:txBody>
      </p:sp>
      <p:sp>
        <p:nvSpPr>
          <p:cNvPr id="480" name="Google Shape;480;p76"/>
          <p:cNvSpPr txBox="1"/>
          <p:nvPr/>
        </p:nvSpPr>
        <p:spPr>
          <a:xfrm>
            <a:off x="4453775" y="1188650"/>
            <a:ext cx="4065000" cy="26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Engine getEngine(){</a:t>
            </a:r>
            <a:b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engine;</a:t>
            </a:r>
            <a:b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void setDriver(Driver driver){</a:t>
            </a:r>
            <a:b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this.driver = driver;</a:t>
            </a:r>
            <a:b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an object has:</a:t>
            </a:r>
            <a:endParaRPr/>
          </a:p>
        </p:txBody>
      </p:sp>
      <p:sp>
        <p:nvSpPr>
          <p:cNvPr id="486" name="Google Shape;486;p7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126900" cy="15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860" b="1"/>
              <a:t>Custom methods</a:t>
            </a:r>
            <a:endParaRPr sz="186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580"/>
              <a:t>We can implement our own custom methods to the class, to manipulate its attributes, or to execute processes. </a:t>
            </a:r>
            <a:endParaRPr sz="158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580"/>
              <a:t>Methods describe the behavior of an object of the class.</a:t>
            </a:r>
            <a:br>
              <a:rPr lang="en-GB" sz="1580"/>
            </a:br>
            <a:endParaRPr sz="205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endParaRPr sz="1860"/>
          </a:p>
        </p:txBody>
      </p:sp>
      <p:sp>
        <p:nvSpPr>
          <p:cNvPr id="487" name="Google Shape;487;p77"/>
          <p:cNvSpPr txBox="1"/>
          <p:nvPr/>
        </p:nvSpPr>
        <p:spPr>
          <a:xfrm>
            <a:off x="3689050" y="961525"/>
            <a:ext cx="6081900" cy="19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boolean drive(int age){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if(age &gt;= 18 &amp;&amp; fuelLvl &gt; 0){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System.out.println("Welcome " +</a:t>
            </a:r>
            <a:b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   driver.getName());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this.fuelLvl --;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door1.setStatus(closed);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door2.setStatus(closed);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return true;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else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System.out.println("not permitted to drive");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return false;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b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b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objects</a:t>
            </a:r>
            <a:endParaRPr/>
          </a:p>
        </p:txBody>
      </p:sp>
      <p:sp>
        <p:nvSpPr>
          <p:cNvPr id="493" name="Google Shape;493;p7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An object must be created!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It must be initialized with attributes. </a:t>
            </a:r>
            <a:br>
              <a:rPr lang="en-GB"/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Car porsche = new Car(Engine abc, Door[] def, Driver ben);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We can interact with objects by using their class methods.</a:t>
            </a:r>
            <a:br>
              <a:rPr lang="en-GB"/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car.setEngine(xyz);</a:t>
            </a:r>
            <a:br>
              <a:rPr lang="en-GB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t1.drive(24);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9"/>
          <p:cNvSpPr txBox="1">
            <a:spLocks noGrp="1"/>
          </p:cNvSpPr>
          <p:nvPr>
            <p:ph type="title"/>
          </p:nvPr>
        </p:nvSpPr>
        <p:spPr>
          <a:xfrm>
            <a:off x="2202884" y="1390366"/>
            <a:ext cx="6696000" cy="450000"/>
          </a:xfrm>
          <a:prstGeom prst="rect">
            <a:avLst/>
          </a:prstGeom>
        </p:spPr>
        <p:txBody>
          <a:bodyPr spcFirstLastPara="1" wrap="square" lIns="71850" tIns="71850" rIns="71850" bIns="718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Modelling OOP with UML diagrams</a:t>
            </a:r>
            <a:endParaRPr sz="2200"/>
          </a:p>
        </p:txBody>
      </p:sp>
      <p:sp>
        <p:nvSpPr>
          <p:cNvPr id="499" name="Google Shape;499;p7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500" name="Google Shape;500;p79"/>
          <p:cNvSpPr txBox="1"/>
          <p:nvPr/>
        </p:nvSpPr>
        <p:spPr>
          <a:xfrm>
            <a:off x="402175" y="4783675"/>
            <a:ext cx="352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Source: GeeksForGeeks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01" name="Google Shape;50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1102388"/>
            <a:ext cx="7186049" cy="3596614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Modelling OOP with UML diagrams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8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Modelling OOP with UML diagrams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8" name="Google Shape;508;p80" title="Class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1300" y="665300"/>
            <a:ext cx="3288399" cy="463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8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Modelling OOP with UML diagrams</a:t>
            </a:r>
            <a:endParaRPr/>
          </a:p>
        </p:txBody>
      </p:sp>
      <p:sp>
        <p:nvSpPr>
          <p:cNvPr id="514" name="Google Shape;514;p8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15" name="Google Shape;51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575" y="982914"/>
            <a:ext cx="7503576" cy="3755525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81"/>
          <p:cNvSpPr txBox="1"/>
          <p:nvPr/>
        </p:nvSpPr>
        <p:spPr>
          <a:xfrm>
            <a:off x="402175" y="4783675"/>
            <a:ext cx="352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Source: GeeksForGeeks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7" name="Google Shape;517;p81"/>
          <p:cNvSpPr/>
          <p:nvPr/>
        </p:nvSpPr>
        <p:spPr>
          <a:xfrm>
            <a:off x="5403425" y="1346925"/>
            <a:ext cx="3213600" cy="1480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entury Gothic"/>
                <a:ea typeface="Century Gothic"/>
                <a:cs typeface="Century Gothic"/>
                <a:sym typeface="Century Gothic"/>
              </a:rPr>
              <a:t>This concept is called</a:t>
            </a:r>
            <a:r>
              <a:rPr lang="en-GB" b="1">
                <a:latin typeface="Century Gothic"/>
                <a:ea typeface="Century Gothic"/>
                <a:cs typeface="Century Gothic"/>
                <a:sym typeface="Century Gothic"/>
              </a:rPr>
              <a:t> inheritance</a:t>
            </a:r>
            <a:r>
              <a:rPr lang="en-GB"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br>
              <a:rPr lang="en-GB"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GB">
                <a:latin typeface="Century Gothic"/>
                <a:ea typeface="Century Gothic"/>
                <a:cs typeface="Century Gothic"/>
                <a:sym typeface="Century Gothic"/>
              </a:rPr>
              <a:t>Duck, fish and zebra are all animals with their own attributes and methods too. 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8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8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24" name="Google Shape;52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1178"/>
            <a:ext cx="9144000" cy="4581144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82"/>
          <p:cNvSpPr txBox="1"/>
          <p:nvPr/>
        </p:nvSpPr>
        <p:spPr>
          <a:xfrm>
            <a:off x="402175" y="4783675"/>
            <a:ext cx="352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Source: GeeksForGeeks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8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Exercise Block 6</a:t>
            </a:r>
            <a:endParaRPr/>
          </a:p>
        </p:txBody>
      </p:sp>
      <p:sp>
        <p:nvSpPr>
          <p:cNvPr id="531" name="Google Shape;531;p8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E10 OOP Quiz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Verify your understanding of OOP.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E11 Bank Account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Model a bank account’s attributes and behaviors.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E12 Quiz Data Types (Advanced)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Test your understanding of usage of data types.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8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Block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8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Block</a:t>
            </a:r>
            <a:endParaRPr/>
          </a:p>
        </p:txBody>
      </p:sp>
      <p:sp>
        <p:nvSpPr>
          <p:cNvPr id="542" name="Google Shape;542;p8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We have handled the essentials of Java coding and OOP</a:t>
            </a:r>
            <a:br>
              <a:rPr lang="en-GB"/>
            </a:br>
            <a:r>
              <a:rPr lang="en-GB"/>
              <a:t>=&gt; Time to implement all skills together!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Choose one of the following projects: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E03O1: Hotel</a:t>
            </a:r>
            <a:br>
              <a:rPr lang="en-GB" b="1"/>
            </a:br>
            <a:r>
              <a:rPr lang="en-GB" b="1"/>
              <a:t>E05O1: Festival</a:t>
            </a:r>
            <a:br>
              <a:rPr lang="en-GB" b="1"/>
            </a:br>
            <a:r>
              <a:rPr lang="en-GB" b="1"/>
              <a:t>E07O1: Library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Once you are done, check out </a:t>
            </a:r>
            <a:r>
              <a:rPr lang="en-GB" b="1"/>
              <a:t>E13</a:t>
            </a:r>
            <a:r>
              <a:rPr lang="en-GB"/>
              <a:t>: These are problems to test your algorithmic thinking!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8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Final Survey</a:t>
            </a:r>
            <a:endParaRPr/>
          </a:p>
        </p:txBody>
      </p:sp>
      <p:sp>
        <p:nvSpPr>
          <p:cNvPr id="548" name="Google Shape;548;p8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49" name="Google Shape;549;p86" title="adobe-express-qr-cod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9950" y="908050"/>
            <a:ext cx="3905250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8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 FOR YOUR PARTICIPATION!!!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3776</Words>
  <Application>Microsoft Macintosh PowerPoint</Application>
  <PresentationFormat>On-screen Show (16:9)</PresentationFormat>
  <Paragraphs>531</Paragraphs>
  <Slides>75</Slides>
  <Notes>75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9" baseType="lpstr">
      <vt:lpstr>Courier New</vt:lpstr>
      <vt:lpstr>Arial</vt:lpstr>
      <vt:lpstr>Century Gothic</vt:lpstr>
      <vt:lpstr>Simple Light</vt:lpstr>
      <vt:lpstr>Informatics Precourse</vt:lpstr>
      <vt:lpstr>PowerPoint Presentation</vt:lpstr>
      <vt:lpstr>Tutor Team: </vt:lpstr>
      <vt:lpstr>Agenda </vt:lpstr>
      <vt:lpstr>Technical Specialisations</vt:lpstr>
      <vt:lpstr>Modules in Informatics</vt:lpstr>
      <vt:lpstr>Modules in Computer Engineering</vt:lpstr>
      <vt:lpstr>PowerPoint Presentation</vt:lpstr>
      <vt:lpstr>Module introductions</vt:lpstr>
      <vt:lpstr>Courses that overlap</vt:lpstr>
      <vt:lpstr>Introduction to Programming</vt:lpstr>
      <vt:lpstr>Introduction to Software Engineering</vt:lpstr>
      <vt:lpstr>Mathematics 2</vt:lpstr>
      <vt:lpstr>Information Management for  Digital Business Models</vt:lpstr>
      <vt:lpstr>Informatics Bachelor Practical Courses… </vt:lpstr>
      <vt:lpstr>Functional Programming and Verification</vt:lpstr>
      <vt:lpstr>Advanced Concepts of Programming Lang.</vt:lpstr>
      <vt:lpstr>Operating Systems and System Software</vt:lpstr>
      <vt:lpstr>Fundamentals of Databases</vt:lpstr>
      <vt:lpstr>Reminder </vt:lpstr>
      <vt:lpstr>Getting started with Java</vt:lpstr>
      <vt:lpstr>What you need to start programming</vt:lpstr>
      <vt:lpstr>Essential vocabulary and syntax</vt:lpstr>
      <vt:lpstr>Essential vocabulary and syntax</vt:lpstr>
      <vt:lpstr>Working with errors</vt:lpstr>
      <vt:lpstr>Use of GenAI in Programming</vt:lpstr>
      <vt:lpstr>Data types in Java</vt:lpstr>
      <vt:lpstr>Common Data Types</vt:lpstr>
      <vt:lpstr>Working with Strings</vt:lpstr>
      <vt:lpstr>Working with Numbers (int, double)</vt:lpstr>
      <vt:lpstr>Using Scanner</vt:lpstr>
      <vt:lpstr>Scanner bug</vt:lpstr>
      <vt:lpstr>Exercise Block 1</vt:lpstr>
      <vt:lpstr>Booleans, if and else</vt:lpstr>
      <vt:lpstr>Booleans</vt:lpstr>
      <vt:lpstr>Overview Logical Operators</vt:lpstr>
      <vt:lpstr>if</vt:lpstr>
      <vt:lpstr>if-else</vt:lpstr>
      <vt:lpstr>Nested if/else </vt:lpstr>
      <vt:lpstr>Exercise Block 2</vt:lpstr>
      <vt:lpstr>Loops</vt:lpstr>
      <vt:lpstr>while</vt:lpstr>
      <vt:lpstr>for</vt:lpstr>
      <vt:lpstr>Exercise Block 3</vt:lpstr>
      <vt:lpstr>Day 1: Student Feedback Survey</vt:lpstr>
      <vt:lpstr>Arrays</vt:lpstr>
      <vt:lpstr>Arrays</vt:lpstr>
      <vt:lpstr>Uses of arrays</vt:lpstr>
      <vt:lpstr>Loops and Arrays</vt:lpstr>
      <vt:lpstr>Exercise Block 4</vt:lpstr>
      <vt:lpstr>Methods</vt:lpstr>
      <vt:lpstr>Why methods?</vt:lpstr>
      <vt:lpstr>Components of a method</vt:lpstr>
      <vt:lpstr>Static methods</vt:lpstr>
      <vt:lpstr>Calling a method</vt:lpstr>
      <vt:lpstr>Common errors</vt:lpstr>
      <vt:lpstr>Exercise Block 5</vt:lpstr>
      <vt:lpstr>Object Oriented Programming</vt:lpstr>
      <vt:lpstr>So what is OOP?</vt:lpstr>
      <vt:lpstr>Classes</vt:lpstr>
      <vt:lpstr>Access modifiers</vt:lpstr>
      <vt:lpstr>What an object has:</vt:lpstr>
      <vt:lpstr>What an object has:</vt:lpstr>
      <vt:lpstr>What an object has:</vt:lpstr>
      <vt:lpstr>What an object has:</vt:lpstr>
      <vt:lpstr>Working with objects</vt:lpstr>
      <vt:lpstr>Modelling OOP with UML diagrams</vt:lpstr>
      <vt:lpstr>Modelling OOP with UML diagrams </vt:lpstr>
      <vt:lpstr>Modelling OOP with UML diagrams</vt:lpstr>
      <vt:lpstr>PowerPoint Presentation</vt:lpstr>
      <vt:lpstr>Exercise Block 6</vt:lpstr>
      <vt:lpstr>Project Block</vt:lpstr>
      <vt:lpstr>Project Block</vt:lpstr>
      <vt:lpstr>Final Survey</vt:lpstr>
      <vt:lpstr>THANK YOU FOR YOUR PARTICIPATION!!!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Deniz Öztürk</cp:lastModifiedBy>
  <cp:revision>1</cp:revision>
  <dcterms:modified xsi:type="dcterms:W3CDTF">2026-04-17T16:59:32Z</dcterms:modified>
</cp:coreProperties>
</file>